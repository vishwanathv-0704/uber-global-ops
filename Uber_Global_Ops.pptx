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641080" y="1051560"/>
            <a:ext cx="2743200" cy="448056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144000" y="14173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UBER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915400" y="2057400"/>
            <a:ext cx="21945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GLOBAL</a:t>
            </a:r>
            <a:br>
              <a:rPr b="1" i="0" lang="en-US" sz="2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br>
              <a:rPr b="1" i="0" lang="en-US" sz="2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ASSISTANT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1417320"/>
            <a:ext cx="6583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Uber Global Operations</a:t>
            </a:r>
            <a:br>
              <a:rPr b="1" i="0" lang="en-US" sz="3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Assistant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49808" y="2331720"/>
            <a:ext cx="6309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Agentic AI for airport operational decision support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49808" y="31546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RAG  •  Multi-agent workflow  •  Tools  •  Guardrails  •  Human approval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49808" y="5349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5-day implementation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Why this system?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40080" y="1600200"/>
            <a:ext cx="3474720" cy="448056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187451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23317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 metric is only the</a:t>
            </a:r>
            <a:br>
              <a:rPr b="1" i="0" lang="en-US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starting point.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3429000"/>
            <a:ext cx="2834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Multiple operational signals change together.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An anomaly needs an explainable response.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Actions must respect policy and safety constraints.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High-risk actions should stop for human approval.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389120" y="1600200"/>
            <a:ext cx="7132320" cy="448056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709160" y="187451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OUR APPROACH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09160" y="233172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Observe → Reason → Verify → Control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4709160" y="3063240"/>
            <a:ext cx="2880360" cy="91440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892040" y="32004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Observe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892040" y="35204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Read airport telemetry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955279" y="3063240"/>
            <a:ext cx="2880360" cy="91440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138159" y="32004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138159" y="35204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Detect anomaly + propose actions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4709160" y="4297680"/>
            <a:ext cx="2880360" cy="91440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4892040" y="4434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892040" y="47548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Retrieve and check policy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7955279" y="4297680"/>
            <a:ext cx="2880360" cy="91440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138159" y="4434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138159" y="47548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Risk + approval before execution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48640" y="2148840"/>
            <a:ext cx="1874519" cy="15544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85800" y="2468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85800" y="28803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Airport question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2450592" y="26974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2834640" y="2148840"/>
            <a:ext cx="1874519" cy="15544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2971800" y="2468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2971800" y="28803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Operator UI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736592" y="26974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120640" y="2148840"/>
            <a:ext cx="1874519" cy="15544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5257800" y="2468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ORCHESTRATOR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257800" y="28803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022592" y="26974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7406640" y="2148840"/>
            <a:ext cx="1874519" cy="15544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543800" y="2468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543800" y="28803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Investigate • Resolve • Comply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308592" y="26974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9692640" y="2148840"/>
            <a:ext cx="1874519" cy="155448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9829800" y="2468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829800" y="28803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Risk • Policy • Approval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234440" y="480060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Output: operational analysis + recommendations + policy result + approval / execution state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Day 1 — RAG policy knowledge base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640080" y="1554480"/>
            <a:ext cx="4663440" cy="45262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2331720"/>
            <a:ext cx="91440" cy="256032"/>
          </a:xfrm>
          <a:prstGeom prst="roundRect">
            <a:avLst>
              <a:gd fmla="val 16667" name="adj"/>
            </a:avLst>
          </a:prstGeom>
          <a:solidFill>
            <a:srgbClr val="43C4A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170432" y="23134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Policy PDFs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914400" y="2862072"/>
            <a:ext cx="91440" cy="256032"/>
          </a:xfrm>
          <a:prstGeom prst="roundRect">
            <a:avLst>
              <a:gd fmla="val 16667" name="adj"/>
            </a:avLst>
          </a:prstGeom>
          <a:solidFill>
            <a:srgbClr val="43C4A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170432" y="284378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Document loader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3392424"/>
            <a:ext cx="91440" cy="256032"/>
          </a:xfrm>
          <a:prstGeom prst="roundRect">
            <a:avLst>
              <a:gd fmla="val 16667" name="adj"/>
            </a:avLst>
          </a:prstGeom>
          <a:solidFill>
            <a:srgbClr val="43C4A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170432" y="337413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Chunking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914400" y="3922775"/>
            <a:ext cx="91440" cy="256032"/>
          </a:xfrm>
          <a:prstGeom prst="roundRect">
            <a:avLst>
              <a:gd fmla="val 16667" name="adj"/>
            </a:avLst>
          </a:prstGeom>
          <a:solidFill>
            <a:srgbClr val="43C4A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170432" y="3904487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914400" y="4453127"/>
            <a:ext cx="91440" cy="256032"/>
          </a:xfrm>
          <a:prstGeom prst="roundRect">
            <a:avLst>
              <a:gd fmla="val 16667" name="adj"/>
            </a:avLst>
          </a:prstGeom>
          <a:solidFill>
            <a:srgbClr val="43C4A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1170432" y="4434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ChromaDB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914400" y="4983479"/>
            <a:ext cx="91440" cy="256032"/>
          </a:xfrm>
          <a:prstGeom prst="roundRect">
            <a:avLst>
              <a:gd fmla="val 16667" name="adj"/>
            </a:avLst>
          </a:prstGeom>
          <a:solidFill>
            <a:srgbClr val="43C4A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1170432" y="49651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Semantic retrieval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5532120" y="1554480"/>
            <a:ext cx="5989320" cy="452628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5852160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ROLE IN THE SYSTEM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5852160" y="2331720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Grounds policy answers in retrieved documents.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Metadata keeps airport / policy context attached to chunks.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Persistent vector storage avoids rebuilding the index every run.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The same retrieval layer supports Policy Compliance.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5852160" y="52120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Local-first design • no paid LLM API required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Day 2 — Operational tools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731520" y="1691640"/>
            <a:ext cx="10789920" cy="1024128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1005840" y="198424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737360" y="18562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Airport Metrics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297680" y="187452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Latest telemetry for SFO / LAX / JFK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31520" y="3017520"/>
            <a:ext cx="10789920" cy="1024128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1005840" y="3310127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737360" y="318211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Driver Incentive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4297680" y="320040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Recommended incentive + estimated cost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31520" y="4343400"/>
            <a:ext cx="10789920" cy="1024128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1005840" y="463600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737360" y="450799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Surge Override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297680" y="452628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Validated mock execution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All tools return structured success / error responses.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Day 3 — From metrics to decisions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640080" y="1554480"/>
            <a:ext cx="3703320" cy="45262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SFO EXAMPLE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14400" y="23774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Completion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914400" y="262432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2514600" y="23774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2514600" y="262432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14400" y="32918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ETA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14400" y="353872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18 min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2514600" y="32918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Cancellations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2514600" y="353872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14400" y="42062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914400" y="4453127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180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2514600" y="42062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Surge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2514600" y="4453127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1.2x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4617720" y="1554480"/>
            <a:ext cx="6903720" cy="452628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4937760" y="1828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AGENT CHAIN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4937760" y="2423160"/>
            <a:ext cx="6126480" cy="713232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166360" y="253288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Operations Investigator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7543800" y="253288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71% &lt; 85% → ANOMALY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4937760" y="3383280"/>
            <a:ext cx="6126480" cy="713232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5166360" y="34930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Resolution Agent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543800" y="349300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Generate intervention options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937760" y="4343400"/>
            <a:ext cx="6126480" cy="713232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5166360" y="445312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Policy Compliance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7543800" y="445312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One RAG + LLM check for all actions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4937760" y="54406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Recommendations are produced before execution.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Day 4 — Guardrails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640080" y="1828800"/>
            <a:ext cx="2423160" cy="22402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68680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868680" y="26974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Validate values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3090672" y="2743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3429000" y="1828800"/>
            <a:ext cx="2423160" cy="22402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3657600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3657600" y="26974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LOW / MEDIUM / HIGH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5879592" y="2743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6217920" y="1828800"/>
            <a:ext cx="2423160" cy="22402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6446520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6446520" y="26974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Check limits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668512" y="2743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9006839" y="1828800"/>
            <a:ext cx="2423160" cy="224028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9235439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APPROVAL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9235439" y="26974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Human gate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1188720" y="4709160"/>
            <a:ext cx="9784080" cy="82296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1371600" y="4965192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SFO 2.0x surge → BLOCKED     |     SFO 1.5x surge → APPROVAL_REQUIRED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Human-in-the-loop execution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640080" y="1600200"/>
            <a:ext cx="6583680" cy="448056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960120" y="1874519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SURGE OVERRIDE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960120" y="23317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2286000" y="23317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increase_surge → 1.5x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960120" y="295351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2286000" y="295351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input + risk + policy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960120" y="357530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2286000" y="3575304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APPROVAL_REQUIRED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960120" y="4197096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2286000" y="4197096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approval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960120" y="481888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2286000" y="481888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mock_success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7452360" y="1600200"/>
            <a:ext cx="4069080" cy="448056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7772400" y="1874519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KEY DESIGN PRINCIPLE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7772400" y="2514600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The model recommends.</a:t>
            </a:r>
            <a:br>
              <a:rPr b="1" i="0" lang="en-US" sz="2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The control layer decides</a:t>
            </a:r>
            <a:br>
              <a:rPr b="1" i="0" lang="en-US" sz="2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whether execution can happen.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7772400" y="45720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Reasoning and execution stay separated.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Day 5 — End-to-end Streamlit flow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640080" y="1554480"/>
            <a:ext cx="4572000" cy="452628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960120" y="18288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OPERATOR FLOW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960120" y="2331720"/>
            <a:ext cx="3840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Select airport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Run analysis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View operational metrics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Review recommended actions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• See policy / approval result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5486400" y="1554480"/>
            <a:ext cx="6035040" cy="4526280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80644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SIMPLIFIED UI VIEW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5806440" y="2331720"/>
            <a:ext cx="5394960" cy="50292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080760" y="245973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Airport:  SFO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5806440" y="3108960"/>
            <a:ext cx="2011680" cy="502920"/>
          </a:xfrm>
          <a:prstGeom prst="roundRect">
            <a:avLst>
              <a:gd fmla="val 16667" name="adj"/>
            </a:avLst>
          </a:prstGeom>
          <a:solidFill>
            <a:srgbClr val="529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806440" y="323697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Analyze Airport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5806440" y="3977639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ANOMALY  •  71% completion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5806440" y="46177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Recommendations → Policy Check → Approval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What we verified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685800" y="1645920"/>
            <a:ext cx="5074920" cy="1024128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914400" y="193852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141732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1417320" y="214884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Policy retrieval returns relevant context.</a:t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6217920" y="1645920"/>
            <a:ext cx="5074920" cy="1024128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6446520" y="193852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94944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6949440" y="214884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Investigator → Resolution → Compliance runs.</a:t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685800" y="2999232"/>
            <a:ext cx="5074920" cy="1024128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914400" y="32918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1417320" y="31638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1417320" y="350215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Metrics, incentive and surge tools work.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6217920" y="2999232"/>
            <a:ext cx="5074920" cy="1024128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6446520" y="32918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6949440" y="31638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949440" y="350215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Invalid inputs and policy violations block.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685800" y="4352544"/>
            <a:ext cx="5074920" cy="1024128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914400" y="464515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1417320" y="45171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Approval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1417320" y="48554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High-risk actions stop at human approval.</a:t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6217920" y="4352544"/>
            <a:ext cx="5074920" cy="1024128"/>
          </a:xfrm>
          <a:prstGeom prst="roundRect">
            <a:avLst>
              <a:gd fmla="val 16667" name="adj"/>
            </a:avLst>
          </a:prstGeom>
          <a:solidFill>
            <a:srgbClr val="1F29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6446520" y="464515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6949440" y="45171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UI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6949440" y="48554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Streamlit runs the end-to-end flow.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41E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/>
          <p:nvPr/>
        </p:nvSpPr>
        <p:spPr>
          <a:xfrm>
            <a:off x="640080" y="384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40080" y="731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11018520" y="4114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A controlled agentic loop — not just a chatbot.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1143000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Observe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3108960" y="28803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3886200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29CFF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5852160" y="28803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6629400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4AD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8595360" y="28803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9372600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B35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1828800" y="4069080"/>
            <a:ext cx="8503920" cy="914400"/>
          </a:xfrm>
          <a:prstGeom prst="roundRect">
            <a:avLst>
              <a:gd fmla="val 16667" name="adj"/>
            </a:avLst>
          </a:prstGeom>
          <a:solidFill>
            <a:srgbClr val="1820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2011680" y="437083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4F7"/>
                </a:solidFill>
                <a:latin typeface="Arial"/>
                <a:ea typeface="Arial"/>
                <a:cs typeface="Arial"/>
                <a:sym typeface="Arial"/>
              </a:rPr>
              <a:t>RAG + agents + tools + guardrails + human approval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1828800" y="534924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EB8C6"/>
                </a:solidFill>
                <a:latin typeface="Arial"/>
                <a:ea typeface="Arial"/>
                <a:cs typeface="Arial"/>
                <a:sym typeface="Arial"/>
              </a:rPr>
              <a:t>Built locally with Qwen3 8B via Ollama + Streamlit.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